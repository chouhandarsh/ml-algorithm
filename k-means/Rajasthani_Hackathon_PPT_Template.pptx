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83CBC-C6B3-E30E-06F8-B009E09EBD8D}" v="43" dt="2026-07-22T11:27:10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0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onal Stripe 3">
            <a:extLst>
              <a:ext uri="{FF2B5EF4-FFF2-40B4-BE49-F238E27FC236}">
                <a16:creationId xmlns:a16="http://schemas.microsoft.com/office/drawing/2014/main" id="{726EAB43-1BEE-330B-7CD8-AAA855D7C93D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429" y="1611630"/>
            <a:ext cx="12117373" cy="1010285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/>
              <a:t>Rajasthan</a:t>
            </a:r>
            <a:r>
              <a:rPr lang="en-US" dirty="0">
                <a:ea typeface="+mj-lt"/>
                <a:cs typeface="+mj-lt"/>
              </a:rPr>
              <a:t> Language Model Training Hackathon </a:t>
            </a:r>
            <a:r>
              <a:rPr lang="en-US">
                <a:ea typeface="+mj-lt"/>
                <a:cs typeface="+mj-lt"/>
              </a:rPr>
              <a:t>2026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1530" y="3154679"/>
            <a:ext cx="12904470" cy="391814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Team Name: Project </a:t>
            </a:r>
            <a:r>
              <a:rPr lang="en-US" b="1" dirty="0" err="1">
                <a:solidFill>
                  <a:schemeClr val="tx1"/>
                </a:solidFill>
              </a:rPr>
              <a:t>NyaAI</a:t>
            </a:r>
            <a:endParaRPr lang="en-US" dirty="0"/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You’re participating: </a:t>
            </a:r>
            <a:r>
              <a:rPr lang="en-US" dirty="0"/>
              <a:t>Students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Organization/Institute Name: Indian Institute of Information Technology Dharwad</a:t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</a:rPr>
              <a:t>Team Leader Name: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0" y="910590"/>
            <a:ext cx="8915400" cy="1143000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/>
              <a:t> Introduction to the Team Members</a:t>
            </a:r>
            <a:br>
              <a:rPr lang="en-US" dirty="0"/>
            </a:br>
            <a:r>
              <a:rPr lang="en-US" sz="2700" dirty="0">
                <a:solidFill>
                  <a:srgbClr val="FF0000"/>
                </a:solidFill>
              </a:rPr>
              <a:t>(Up to 5 members allowed)</a:t>
            </a:r>
            <a:endParaRPr sz="27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0" y="2335213"/>
            <a:ext cx="13408479" cy="4759779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Team Member 1 Name: BS in Data Science and </a:t>
            </a:r>
            <a:r>
              <a:rPr lang="en-US" sz="2400" b="1" dirty="0" err="1"/>
              <a:t>B.Tech</a:t>
            </a:r>
            <a:r>
              <a:rPr lang="en-US" sz="2400" b="1" dirty="0"/>
              <a:t> in DSAI / </a:t>
            </a:r>
            <a:r>
              <a:rPr lang="en-US" sz="2400" dirty="0"/>
              <a:t>Team Leader &amp; AI Architecture. Specialty in Agentic AI Workflows, Team Management</a:t>
            </a:r>
          </a:p>
          <a:p>
            <a:r>
              <a:rPr lang="en-US" sz="2400" b="1" dirty="0"/>
              <a:t>Prince Jha : BS in Data Science and </a:t>
            </a:r>
            <a:r>
              <a:rPr lang="en-US" sz="2400" b="1" dirty="0" err="1"/>
              <a:t>Btech</a:t>
            </a:r>
            <a:r>
              <a:rPr lang="en-US" sz="2400" b="1" dirty="0"/>
              <a:t> in CSE/ </a:t>
            </a:r>
            <a:r>
              <a:rPr lang="en-US" sz="2400" dirty="0"/>
              <a:t> Data Engineering, &amp; Model Adaptation. Specialty in processing audio pipelines (VAD/</a:t>
            </a:r>
            <a:r>
              <a:rPr lang="en-US" sz="2400" dirty="0" err="1"/>
              <a:t>FFmpeg</a:t>
            </a:r>
            <a:r>
              <a:rPr lang="en-US" sz="2400" dirty="0"/>
              <a:t>) and Parameter-Efficient</a:t>
            </a:r>
          </a:p>
          <a:p>
            <a:r>
              <a:rPr lang="en-US" sz="2400" dirty="0"/>
              <a:t>  Fine-Tuning (PEFT/</a:t>
            </a:r>
            <a:r>
              <a:rPr lang="en-US" sz="2400" dirty="0" err="1"/>
              <a:t>LoRA</a:t>
            </a:r>
            <a:r>
              <a:rPr lang="en-US" sz="2400" dirty="0"/>
              <a:t>) for ASR/MT. </a:t>
            </a:r>
          </a:p>
          <a:p>
            <a:r>
              <a:rPr lang="en-US" sz="2400" b="1" dirty="0"/>
              <a:t>Aarya Saajan:  BS in Data Science and </a:t>
            </a:r>
            <a:r>
              <a:rPr lang="en-US" sz="2400" b="1" dirty="0" err="1"/>
              <a:t>B.Tech</a:t>
            </a:r>
            <a:r>
              <a:rPr lang="en-US" sz="2400" b="1" dirty="0"/>
              <a:t> in DSAI / </a:t>
            </a:r>
            <a:r>
              <a:rPr lang="en-US" sz="2400" dirty="0"/>
              <a:t>ASR Model Adaptation. Specialty in Speech-to-Text architectures, applying Quantized </a:t>
            </a:r>
            <a:r>
              <a:rPr lang="en-US" sz="2400" dirty="0" err="1"/>
              <a:t>LoRA</a:t>
            </a:r>
            <a:r>
              <a:rPr lang="en-US" sz="2400" dirty="0"/>
              <a:t> (</a:t>
            </a:r>
            <a:r>
              <a:rPr lang="en-US" sz="2400" dirty="0" err="1"/>
              <a:t>QLoRA</a:t>
            </a:r>
            <a:r>
              <a:rPr lang="en-US" sz="2400" dirty="0"/>
              <a:t>) to </a:t>
            </a:r>
            <a:r>
              <a:rPr lang="en-US" sz="2400" dirty="0" err="1"/>
              <a:t>IndicWhisper</a:t>
            </a:r>
            <a:r>
              <a:rPr lang="en-US" sz="2400" dirty="0"/>
              <a:t>, and</a:t>
            </a:r>
          </a:p>
          <a:p>
            <a:r>
              <a:rPr lang="en-US" sz="2400" dirty="0"/>
              <a:t>  acoustic noise-resilience training.</a:t>
            </a:r>
          </a:p>
          <a:p>
            <a:r>
              <a:rPr lang="en-US" sz="2400" b="1" dirty="0"/>
              <a:t>Darsh -------: </a:t>
            </a:r>
            <a:r>
              <a:rPr lang="en-US" sz="2400" b="1" dirty="0" err="1"/>
              <a:t>B.Tech</a:t>
            </a:r>
            <a:r>
              <a:rPr lang="en-US" sz="2400" b="1" dirty="0"/>
              <a:t> in DSAI </a:t>
            </a:r>
            <a:r>
              <a:rPr lang="en-US" sz="2400" dirty="0"/>
              <a:t>/MT Translation &amp; Model Evaluation. Specialty in Machine Translation fine-tuning (IndicTrans2) and developing the Meaning-Critical Error Rate (MCER) evaluation benchmarks.</a:t>
            </a:r>
          </a:p>
          <a:p>
            <a:r>
              <a:rPr lang="en-US" sz="2400" b="1" dirty="0"/>
              <a:t>Saksham ------: </a:t>
            </a:r>
            <a:r>
              <a:rPr lang="en-US" sz="2400" b="1" dirty="0" err="1"/>
              <a:t>B.Tech</a:t>
            </a:r>
            <a:r>
              <a:rPr lang="en-US" sz="2400" b="1" dirty="0"/>
              <a:t> in CSE</a:t>
            </a:r>
            <a:r>
              <a:rPr lang="en-US" sz="2400" dirty="0"/>
              <a:t>/ Full Stack Engineering. Specialty in building the Next.js verification interface, </a:t>
            </a:r>
            <a:r>
              <a:rPr lang="en-US" sz="2400" dirty="0" err="1"/>
              <a:t>FastAPI</a:t>
            </a:r>
            <a:r>
              <a:rPr lang="en-US" sz="2400" dirty="0"/>
              <a:t> backend inference, Docker containerization, and ULCA schema compliance.</a:t>
            </a:r>
            <a:endParaRPr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BA0C28-FD97-8B25-85F2-6366147363B3}"/>
              </a:ext>
            </a:extLst>
          </p:cNvPr>
          <p:cNvSpPr txBox="1">
            <a:spLocks/>
          </p:cNvSpPr>
          <p:nvPr/>
        </p:nvSpPr>
        <p:spPr>
          <a:xfrm>
            <a:off x="3954780" y="5878513"/>
            <a:ext cx="666369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0C11A9A2-6055-4C3E-CBB0-C26A0D0CC509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275CF9F4-CACE-3486-3C9B-B8A900387B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185" y="754698"/>
            <a:ext cx="9384030" cy="1143000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dirty="0"/>
              <a:t>Understanding of 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90" y="2571750"/>
            <a:ext cx="13087350" cy="452596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The Problem:</a:t>
            </a:r>
            <a:r>
              <a:rPr lang="en-IN" dirty="0"/>
              <a:t> India's legal system (under BNSS §173, §180, §313) already provides mechanisms for interpretation and verification. However, the </a:t>
            </a:r>
            <a:r>
              <a:rPr lang="en-IN" i="1" dirty="0"/>
              <a:t>workflow</a:t>
            </a:r>
            <a:r>
              <a:rPr lang="en-IN" dirty="0"/>
              <a:t> where vernacular speech becomes a written official record is human, lossy, inconsistent, and difficult to audit.</a:t>
            </a:r>
          </a:p>
          <a:p>
            <a:pPr lvl="0"/>
            <a:r>
              <a:rPr lang="en-IN" b="1" dirty="0"/>
              <a:t>The Gap:</a:t>
            </a:r>
            <a:r>
              <a:rPr lang="en-IN" dirty="0"/>
              <a:t> For low-resource dialects like Marwari and Dhundhari, standard translation workflows overwrite the citizen's original vocabulary, pronunciation, and idioms into standardized Hindi. The original voice is lost in translation.</a:t>
            </a:r>
          </a:p>
          <a:p>
            <a:pPr lvl="0"/>
            <a:r>
              <a:rPr lang="en-IN" b="1" dirty="0"/>
              <a:t>The Goal:</a:t>
            </a:r>
            <a:r>
              <a:rPr lang="en-IN" dirty="0"/>
              <a:t> We are not replacing the interpreter. We are building the digital infrastructure to make the interpretation </a:t>
            </a:r>
            <a:r>
              <a:rPr lang="en-IN" i="1" dirty="0"/>
              <a:t>auditable</a:t>
            </a:r>
            <a:r>
              <a:rPr lang="en-IN" dirty="0"/>
              <a:t>. We ensure that the gap between a citizen's original spoken testimony and the processed digital record is verifiable and machine-aligned.</a:t>
            </a:r>
          </a:p>
          <a:p>
            <a:pPr marL="0" indent="0">
              <a:buNone/>
            </a:pPr>
            <a:endParaRPr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F7B755A7-73F0-4F32-446B-30EE3D6FE119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A08730CE-F7CA-D6EB-F620-AAE47117EC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305" y="508999"/>
            <a:ext cx="12035790" cy="1709057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dirty="0"/>
              <a:t>Technology Survey on</a:t>
            </a:r>
            <a:r>
              <a:rPr lang="en-US" dirty="0"/>
              <a:t> Rajasthan Language</a:t>
            </a:r>
            <a:r>
              <a:rPr lang="en-US" dirty="0">
                <a:ea typeface="+mj-lt"/>
                <a:cs typeface="+mj-lt"/>
              </a:rPr>
              <a:t> Model Training Hackathon 2026</a:t>
            </a:r>
            <a:br>
              <a:rPr lang="en-US" dirty="0"/>
            </a:br>
            <a:r>
              <a:rPr lang="en-IN" sz="1800" dirty="0"/>
              <a:t>(Automatic Speech Recognition, Machine Translation, Text to speech Translation and OCR Models) </a:t>
            </a:r>
            <a:endParaRPr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13567CB7-296A-E7D1-7A24-366F9B82CD27}"/>
              </a:ext>
            </a:extLst>
          </p:cNvPr>
          <p:cNvSpPr/>
          <p:nvPr/>
        </p:nvSpPr>
        <p:spPr>
          <a:xfrm rot="8229975">
            <a:off x="-7055100" y="6438030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B0C17-A86D-2C2B-EE23-FC5B9C770283}"/>
              </a:ext>
            </a:extLst>
          </p:cNvPr>
          <p:cNvSpPr txBox="1"/>
          <p:nvPr/>
        </p:nvSpPr>
        <p:spPr>
          <a:xfrm>
            <a:off x="354259" y="2482683"/>
            <a:ext cx="1392188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b="1" dirty="0"/>
              <a:t>Automatic Speech Recognition (ASR):</a:t>
            </a:r>
            <a:r>
              <a:rPr lang="en-IN" sz="2800" dirty="0"/>
              <a:t> Surveyed OpenAI Whisper, Meta MMS, and AI4Bharat </a:t>
            </a:r>
            <a:r>
              <a:rPr lang="en-IN" sz="2800" dirty="0" err="1"/>
              <a:t>IndicWhisper</a:t>
            </a:r>
            <a:r>
              <a:rPr lang="en-IN" sz="2800" dirty="0"/>
              <a:t>/</a:t>
            </a:r>
            <a:r>
              <a:rPr lang="en-IN" sz="2800" dirty="0" err="1"/>
              <a:t>SraVaani</a:t>
            </a:r>
            <a:r>
              <a:rPr lang="en-IN" sz="2800" dirty="0"/>
              <a:t> </a:t>
            </a:r>
            <a:r>
              <a:rPr lang="en-IN" sz="2800" dirty="0" err="1"/>
              <a:t>FastConformer</a:t>
            </a:r>
            <a:r>
              <a:rPr lang="en-IN" sz="2800" dirty="0"/>
              <a:t>. </a:t>
            </a:r>
            <a:r>
              <a:rPr lang="en-IN" sz="2800" dirty="0" err="1"/>
              <a:t>IndicWhisper</a:t>
            </a:r>
            <a:r>
              <a:rPr lang="en-IN" sz="2800" dirty="0"/>
              <a:t> provides the strongest acoustic baseline for Indic languages, but requires targeted </a:t>
            </a:r>
            <a:r>
              <a:rPr lang="en-IN" sz="2800" dirty="0" err="1"/>
              <a:t>LoRA</a:t>
            </a:r>
            <a:r>
              <a:rPr lang="en-IN" sz="2800" dirty="0"/>
              <a:t> adaptation to capture Marwari-specific phonology (e.g., retroflex laterals) without defaulting to Hindi.</a:t>
            </a:r>
          </a:p>
          <a:p>
            <a:pPr lvl="0"/>
            <a:r>
              <a:rPr lang="en-IN" sz="2800" b="1" dirty="0"/>
              <a:t>Machine Translation (MT):</a:t>
            </a:r>
            <a:r>
              <a:rPr lang="en-IN" sz="2800" dirty="0"/>
              <a:t> Surveyed NLLB-200, IndicTrans2, and LLM In-Context Learning (Llama-3.1). IndicTrans2 is optimal for script-unified transfer learning (Marwari-to-Hindi).</a:t>
            </a:r>
          </a:p>
          <a:p>
            <a:pPr lvl="0"/>
            <a:r>
              <a:rPr lang="en-IN" sz="2800" b="1" dirty="0"/>
              <a:t>Text to Speech Translation (TTS):</a:t>
            </a:r>
            <a:r>
              <a:rPr lang="en-IN" sz="2800" dirty="0"/>
              <a:t> Surveyed </a:t>
            </a:r>
            <a:r>
              <a:rPr lang="en-IN" sz="2800" dirty="0" err="1"/>
              <a:t>IndicTTS</a:t>
            </a:r>
            <a:r>
              <a:rPr lang="en-IN" sz="2800" dirty="0"/>
              <a:t> (</a:t>
            </a:r>
            <a:r>
              <a:rPr lang="en-IN" sz="2800" dirty="0" err="1"/>
              <a:t>FastPitch</a:t>
            </a:r>
            <a:r>
              <a:rPr lang="en-IN" sz="2800" dirty="0"/>
              <a:t> + HiFi-GAN). Critical for accessibility (reading transcripts back to non-literate citizens), requiring ~5 hours of clean, single-speaker dialect audio for voice cloning.</a:t>
            </a:r>
          </a:p>
          <a:p>
            <a:pPr lvl="0"/>
            <a:r>
              <a:rPr lang="en-IN" sz="2800" b="1" dirty="0"/>
              <a:t>OCR Models:</a:t>
            </a:r>
            <a:r>
              <a:rPr lang="en-IN" sz="2800" dirty="0"/>
              <a:t> Surveyed </a:t>
            </a:r>
            <a:r>
              <a:rPr lang="en-IN" sz="2800" dirty="0" err="1"/>
              <a:t>TrOCR</a:t>
            </a:r>
            <a:r>
              <a:rPr lang="en-IN" sz="2800" dirty="0"/>
              <a:t> and LayoutLMv3. While our primary focus is speech, these represent the standard for digitizing historical, handwritten regional land records (e.g., </a:t>
            </a:r>
            <a:r>
              <a:rPr lang="en-IN" sz="2800" dirty="0" err="1"/>
              <a:t>Mahajani</a:t>
            </a:r>
            <a:r>
              <a:rPr lang="en-IN" sz="2800" dirty="0"/>
              <a:t> script).</a:t>
            </a:r>
          </a:p>
          <a:p>
            <a:endParaRPr lang="en-IN" sz="28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A4488065-321B-23DF-EF7F-FEF427F1E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445" y="686117"/>
            <a:ext cx="9795510" cy="1143000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dirty="0"/>
              <a:t>Results of Initial Benchmarks Carried out</a:t>
            </a:r>
            <a:br>
              <a:rPr lang="en-IN" dirty="0"/>
            </a:br>
            <a:r>
              <a:rPr lang="en-IN" sz="1800" dirty="0">
                <a:solidFill>
                  <a:srgbClr val="FF0000"/>
                </a:solidFill>
              </a:rPr>
              <a:t>(Please note that it should be related to Deployment Benchmarks in real life)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410" y="2446020"/>
            <a:ext cx="12744450" cy="50974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Zero-Shot Failure in the Field:</a:t>
            </a:r>
            <a:r>
              <a:rPr lang="en-IN" dirty="0"/>
              <a:t> Initial evaluation of off-the-shelf ASR (</a:t>
            </a:r>
            <a:r>
              <a:rPr lang="en-IN" dirty="0" err="1"/>
              <a:t>IndicWhisper</a:t>
            </a:r>
            <a:r>
              <a:rPr lang="en-IN" dirty="0"/>
              <a:t>/MMS) on spontaneous, noisy rural Rajasthani audio (e.g., Project VAANI </a:t>
            </a:r>
            <a:r>
              <a:rPr lang="en-IN" dirty="0" err="1"/>
              <a:t>snipets</a:t>
            </a:r>
            <a:r>
              <a:rPr lang="en-IN" dirty="0"/>
              <a:t>) yields unacceptable Word Error Rates (WER &gt; 35%).</a:t>
            </a:r>
          </a:p>
          <a:p>
            <a:pPr lvl="0"/>
            <a:r>
              <a:rPr lang="en-IN" b="1" dirty="0"/>
              <a:t>Real-Life Deployment Bottlenecks:</a:t>
            </a:r>
            <a:endParaRPr lang="en-IN" dirty="0"/>
          </a:p>
          <a:p>
            <a:pPr lvl="1"/>
            <a:r>
              <a:rPr lang="en-IN" i="1" dirty="0"/>
              <a:t>Orthographic Inconsistency:</a:t>
            </a:r>
            <a:r>
              <a:rPr lang="en-IN" dirty="0"/>
              <a:t> Models aggressively penalize non-standard Devanagari spellings of dialect words.</a:t>
            </a:r>
          </a:p>
          <a:p>
            <a:pPr lvl="1"/>
            <a:r>
              <a:rPr lang="en-IN" i="1" dirty="0"/>
              <a:t>Morpho-syntactic Gaps:</a:t>
            </a:r>
            <a:r>
              <a:rPr lang="en-IN" dirty="0"/>
              <a:t> Models force standard Hindi grammar (e.g., translating Marwari genitive </a:t>
            </a:r>
            <a:r>
              <a:rPr lang="en-IN" i="1" dirty="0" err="1"/>
              <a:t>ro</a:t>
            </a:r>
            <a:r>
              <a:rPr lang="en-IN" i="1" dirty="0"/>
              <a:t>/</a:t>
            </a:r>
            <a:r>
              <a:rPr lang="en-IN" i="1" dirty="0" err="1"/>
              <a:t>ra</a:t>
            </a:r>
            <a:r>
              <a:rPr lang="en-IN" i="1" dirty="0"/>
              <a:t>/</a:t>
            </a:r>
            <a:r>
              <a:rPr lang="en-IN" i="1" dirty="0" err="1"/>
              <a:t>ri</a:t>
            </a:r>
            <a:r>
              <a:rPr lang="en-IN" dirty="0"/>
              <a:t> to Hindi </a:t>
            </a:r>
            <a:r>
              <a:rPr lang="en-IN" i="1" dirty="0"/>
              <a:t>ka/</a:t>
            </a:r>
            <a:r>
              <a:rPr lang="en-IN" i="1" dirty="0" err="1"/>
              <a:t>ke</a:t>
            </a:r>
            <a:r>
              <a:rPr lang="en-IN" i="1" dirty="0"/>
              <a:t>/ki</a:t>
            </a:r>
            <a:r>
              <a:rPr lang="en-IN" dirty="0"/>
              <a:t> prematurely at the acoustic level).</a:t>
            </a:r>
          </a:p>
          <a:p>
            <a:pPr lvl="0"/>
            <a:r>
              <a:rPr lang="en-IN" b="1" dirty="0"/>
              <a:t>Conclusion:</a:t>
            </a:r>
            <a:r>
              <a:rPr lang="en-IN" dirty="0"/>
              <a:t> Zero-shot deployment for legal/administrative intake is unsafe. The models require Parameter-Efficient Fine-Tuning (PEFT) specifically on noisy, colloquial Rajasthani datasets to be viable for frontline public workers.</a:t>
            </a:r>
          </a:p>
          <a:p>
            <a:endParaRPr dirty="0"/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2ABBEFBB-BEFD-453E-3680-D8DD265C82D6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1A0C8F6D-3C05-B78F-E424-846FBD965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885" y="1211897"/>
            <a:ext cx="11898630" cy="891483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dirty="0"/>
              <a:t>Approach and Methodology to Improve Model Accuracy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270" y="2491739"/>
            <a:ext cx="12950190" cy="518269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Core Design Principle: </a:t>
            </a:r>
            <a:r>
              <a:rPr lang="en-IN" b="1" i="1" dirty="0"/>
              <a:t>AI proposes. Human verifies. Original audio remains authoritative.</a:t>
            </a:r>
            <a:endParaRPr lang="en-IN" dirty="0"/>
          </a:p>
          <a:p>
            <a:pPr lvl="0"/>
            <a:r>
              <a:rPr lang="en-IN" b="1" dirty="0"/>
              <a:t>Targeted Acoustic Fine-Tuning:</a:t>
            </a:r>
            <a:r>
              <a:rPr lang="en-IN" dirty="0"/>
              <a:t> We will apply Low-Rank Adaptation (</a:t>
            </a:r>
            <a:r>
              <a:rPr lang="en-IN" dirty="0" err="1"/>
              <a:t>LoRA</a:t>
            </a:r>
            <a:r>
              <a:rPr lang="en-IN" dirty="0"/>
              <a:t>) to the ASR encoder layers, teaching the model Rajasthani phonemes without causing catastrophic forgetting of its base Hindi understanding.</a:t>
            </a:r>
          </a:p>
          <a:p>
            <a:pPr lvl="0"/>
            <a:r>
              <a:rPr lang="en-IN" b="1" dirty="0"/>
              <a:t>Synthetic Data Augmentation for MT:</a:t>
            </a:r>
            <a:r>
              <a:rPr lang="en-IN" dirty="0"/>
              <a:t> We will utilize the digitized </a:t>
            </a:r>
            <a:r>
              <a:rPr lang="en-IN" i="1" dirty="0"/>
              <a:t>Sitaram Lalas Sabad Kosh</a:t>
            </a:r>
            <a:r>
              <a:rPr lang="en-IN" dirty="0"/>
              <a:t> (250k-word dictionary) to programmatically generate high-fidelity parallel Marwari-Hindi sentences to fine-tune the MT model.</a:t>
            </a:r>
          </a:p>
          <a:p>
            <a:pPr lvl="0"/>
            <a:r>
              <a:rPr lang="en-IN" b="1" dirty="0"/>
              <a:t>Human-in-the-Loop (HITL) Feedback:</a:t>
            </a:r>
            <a:r>
              <a:rPr lang="en-IN" dirty="0"/>
              <a:t> Model outputs are explicitly designed for human verification. Frontline workers and our native validation panel correct transcripts, creating a continuous feedback loop to iteratively retrain the </a:t>
            </a:r>
            <a:r>
              <a:rPr lang="en-IN" dirty="0" err="1"/>
              <a:t>LoRA</a:t>
            </a:r>
            <a:r>
              <a:rPr lang="en-IN" dirty="0"/>
              <a:t> adapters.</a:t>
            </a:r>
          </a:p>
          <a:p>
            <a:pPr marL="0" indent="0">
              <a:buNone/>
            </a:pPr>
            <a:endParaRPr lang="en-IN" sz="28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74809DC8-84A7-598A-3D3B-B9BF606D960A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997CD90C-E625-D0CF-B2BC-E0F49D79A6A3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CC217652-7C8D-F2ED-F24C-8F32B4D114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5" y="335975"/>
            <a:ext cx="9201150" cy="788988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dirty="0"/>
              <a:t>Data Collection Methodology and Formats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759B8-C94A-D4E2-CDC5-59A48BA6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88" y="1444643"/>
            <a:ext cx="13557551" cy="3238500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Data Sources (Phased Scaling):</a:t>
            </a:r>
            <a:endParaRPr lang="en-IN" dirty="0"/>
          </a:p>
          <a:p>
            <a:pPr lvl="1"/>
            <a:r>
              <a:rPr lang="en-IN" i="1" dirty="0"/>
              <a:t>Phase 1:</a:t>
            </a:r>
            <a:r>
              <a:rPr lang="en-IN" dirty="0"/>
              <a:t> 20–30 hours of speech to establish PEFT baseline viability.</a:t>
            </a:r>
          </a:p>
          <a:p>
            <a:pPr lvl="1"/>
            <a:r>
              <a:rPr lang="en-IN" i="1" dirty="0"/>
              <a:t>Phase 2 Scale:</a:t>
            </a:r>
            <a:r>
              <a:rPr lang="en-IN" dirty="0"/>
              <a:t> 100+ hours of speech (from Project VAANI and scraping All India Radio regional broadcasts) and 1.2M words of text (from LDC-IL CIIL Mysore).</a:t>
            </a:r>
          </a:p>
          <a:p>
            <a:pPr lvl="0"/>
            <a:r>
              <a:rPr lang="en-IN" b="1" dirty="0"/>
              <a:t>Processing Methodology:</a:t>
            </a:r>
            <a:r>
              <a:rPr lang="en-IN" dirty="0"/>
              <a:t> Raw audio is processed via </a:t>
            </a:r>
            <a:r>
              <a:rPr lang="en-IN" dirty="0" err="1"/>
              <a:t>FFmpeg</a:t>
            </a:r>
            <a:r>
              <a:rPr lang="en-IN" dirty="0"/>
              <a:t> (16kHz, mono) and </a:t>
            </a:r>
            <a:r>
              <a:rPr lang="en-IN" dirty="0" err="1"/>
              <a:t>Silero</a:t>
            </a:r>
            <a:r>
              <a:rPr lang="en-IN" dirty="0"/>
              <a:t> VAD (Voice Activity Detection) to segment streams into pristine 5–15 second chunks, discarding dead silence.</a:t>
            </a:r>
          </a:p>
          <a:p>
            <a:pPr lvl="0"/>
            <a:r>
              <a:rPr lang="en-IN" b="1" dirty="0"/>
              <a:t>Data Formats:</a:t>
            </a:r>
            <a:r>
              <a:rPr lang="en-IN" dirty="0"/>
              <a:t> Text and audio pairs are strictly structured into JSONL formats.</a:t>
            </a:r>
          </a:p>
          <a:p>
            <a:pPr lvl="0"/>
            <a:r>
              <a:rPr lang="en-IN" b="1" dirty="0"/>
              <a:t>Data Integrity:</a:t>
            </a:r>
            <a:r>
              <a:rPr lang="en-IN" dirty="0"/>
              <a:t> At the moment of capture, all original raw audio is cryptographically hashed (SHA-256) to establish a tamper-evident audit trail for legal workflows.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245FF8E2-0B6C-54A0-7C4D-0CC6DA16814A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BAF1C564-8A1E-4E8D-321E-B3353654BE9C}"/>
              </a:ext>
            </a:extLst>
          </p:cNvPr>
          <p:cNvSpPr/>
          <p:nvPr/>
        </p:nvSpPr>
        <p:spPr>
          <a:xfrm rot="8229975">
            <a:off x="-2644209" y="12637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A58BA-DF01-21CE-F408-2B22EAFDA61C}"/>
              </a:ext>
            </a:extLst>
          </p:cNvPr>
          <p:cNvSpPr txBox="1"/>
          <p:nvPr/>
        </p:nvSpPr>
        <p:spPr>
          <a:xfrm>
            <a:off x="905688" y="5468590"/>
            <a:ext cx="1341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5B54C-FDED-CEC9-B4DD-A05413BEBFF2}"/>
              </a:ext>
            </a:extLst>
          </p:cNvPr>
          <p:cNvSpPr txBox="1"/>
          <p:nvPr/>
        </p:nvSpPr>
        <p:spPr>
          <a:xfrm>
            <a:off x="1007892" y="5353894"/>
            <a:ext cx="128294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2000" dirty="0"/>
            </a:br>
            <a:endParaRPr lang="en-IN" sz="2000" dirty="0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9F6CF324-9538-B053-2D03-2E42D753C33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865" y="1051560"/>
            <a:ext cx="7646670" cy="937578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dirty="0"/>
              <a:t>Model Training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425" y="2514600"/>
            <a:ext cx="12401550" cy="4525963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Framework:</a:t>
            </a:r>
            <a:r>
              <a:rPr lang="en-IN" dirty="0"/>
              <a:t> </a:t>
            </a:r>
            <a:r>
              <a:rPr lang="en-IN" dirty="0" err="1"/>
              <a:t>PyTorch</a:t>
            </a:r>
            <a:r>
              <a:rPr lang="en-IN" dirty="0"/>
              <a:t> combined with Hugging Face </a:t>
            </a:r>
            <a:r>
              <a:rPr lang="en-IN" dirty="0" err="1"/>
              <a:t>peft</a:t>
            </a:r>
            <a:r>
              <a:rPr lang="en-IN" dirty="0"/>
              <a:t> and transformers libraries.</a:t>
            </a:r>
          </a:p>
          <a:p>
            <a:pPr lvl="0"/>
            <a:r>
              <a:rPr lang="en-IN" b="1" dirty="0"/>
              <a:t>Compute Strategy (</a:t>
            </a:r>
            <a:r>
              <a:rPr lang="en-IN" b="1" dirty="0" err="1"/>
              <a:t>QLoRA</a:t>
            </a:r>
            <a:r>
              <a:rPr lang="en-IN" b="1" dirty="0"/>
              <a:t>):</a:t>
            </a:r>
            <a:r>
              <a:rPr lang="en-IN" dirty="0"/>
              <a:t> To bypass the need for massive A100 GPU clusters, we will deploy 4-bit Quantized </a:t>
            </a:r>
            <a:r>
              <a:rPr lang="en-IN" dirty="0" err="1"/>
              <a:t>LoRA</a:t>
            </a:r>
            <a:r>
              <a:rPr lang="en-IN" dirty="0"/>
              <a:t> on accessible hardware (Google </a:t>
            </a:r>
            <a:r>
              <a:rPr lang="en-IN" dirty="0" err="1"/>
              <a:t>Colab</a:t>
            </a:r>
            <a:r>
              <a:rPr lang="en-IN" dirty="0"/>
              <a:t> Pro / Kaggle T4s).</a:t>
            </a:r>
          </a:p>
          <a:p>
            <a:pPr lvl="0"/>
            <a:r>
              <a:rPr lang="en-IN" b="1" dirty="0"/>
              <a:t>ASR Training:</a:t>
            </a:r>
            <a:r>
              <a:rPr lang="en-IN" dirty="0"/>
              <a:t> Freeze the base </a:t>
            </a:r>
            <a:r>
              <a:rPr lang="en-IN" dirty="0" err="1"/>
              <a:t>IndicWhisper</a:t>
            </a:r>
            <a:r>
              <a:rPr lang="en-IN" dirty="0"/>
              <a:t> weights. Inject trainable rank-16 </a:t>
            </a:r>
            <a:r>
              <a:rPr lang="en-IN" dirty="0" err="1"/>
              <a:t>LoRA</a:t>
            </a:r>
            <a:r>
              <a:rPr lang="en-IN" dirty="0"/>
              <a:t> matrices. We will apply </a:t>
            </a:r>
            <a:r>
              <a:rPr lang="en-IN" dirty="0" err="1"/>
              <a:t>SpecAugment</a:t>
            </a:r>
            <a:r>
              <a:rPr lang="en-IN" dirty="0"/>
              <a:t> (frequency/time masking) during training to simulate real-world rural background noise (wind, traffic), ensuring field-readiness.</a:t>
            </a:r>
          </a:p>
          <a:p>
            <a:pPr lvl="0"/>
            <a:r>
              <a:rPr lang="en-IN" b="1" dirty="0"/>
              <a:t>MT Training:</a:t>
            </a:r>
            <a:r>
              <a:rPr lang="en-IN" dirty="0"/>
              <a:t> Fine-tune IndicTrans2 using a cross-entropy loss objective on our curated parallel JSONL dataset, enforcing a unified Devanagari script vocabulary.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631E7E20-4FA3-B894-72C8-122A36BA7D27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377B140D-8AD5-FE71-6D2C-99134CAE9289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45E24CF9-D6D3-63B2-E3E0-5D9F5E4FDC6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60" y="1005840"/>
            <a:ext cx="10927080" cy="823278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dirty="0"/>
              <a:t>Measurement of Accuracy and Evaluation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697797"/>
            <a:ext cx="12115800" cy="4525963"/>
          </a:xfrm>
        </p:spPr>
        <p:txBody>
          <a:bodyPr>
            <a:normAutofit fontScale="85000" lnSpcReduction="10000"/>
          </a:bodyPr>
          <a:lstStyle/>
          <a:p>
            <a:r>
              <a:rPr lang="en-IN" i="1" dirty="0"/>
              <a:t>Standard metrics (WER/BLEU) are insufficient for high-stakes administrative/legal use cases. We employ a 4-dimensional evaluation matrix:</a:t>
            </a:r>
            <a:endParaRPr lang="en-IN" dirty="0"/>
          </a:p>
          <a:p>
            <a:pPr lvl="0"/>
            <a:r>
              <a:rPr lang="en-IN" b="1" dirty="0"/>
              <a:t>ASR Accuracy:</a:t>
            </a:r>
            <a:r>
              <a:rPr lang="en-IN" dirty="0"/>
              <a:t> Word Error Rate (WER) and Character Error Rate (CER).</a:t>
            </a:r>
          </a:p>
          <a:p>
            <a:pPr lvl="0"/>
            <a:r>
              <a:rPr lang="en-IN" b="1" dirty="0"/>
              <a:t>Translation Fidelity:</a:t>
            </a:r>
            <a:r>
              <a:rPr lang="en-IN" dirty="0"/>
              <a:t> BLEU and </a:t>
            </a:r>
            <a:r>
              <a:rPr lang="en-IN" dirty="0" err="1"/>
              <a:t>chrF</a:t>
            </a:r>
            <a:r>
              <a:rPr lang="en-IN" dirty="0"/>
              <a:t>++ scores.</a:t>
            </a:r>
          </a:p>
          <a:p>
            <a:pPr lvl="0"/>
            <a:r>
              <a:rPr lang="en-IN" b="1" dirty="0"/>
              <a:t>Meaning-Critical Error Rate (MCER) [Custom]:</a:t>
            </a:r>
            <a:r>
              <a:rPr lang="en-IN" dirty="0"/>
              <a:t> We benchmark how often the AI alters legally relevant semantic meaning (e.g., changing numbers, dates, or negations like "saw" vs "didn't see").</a:t>
            </a:r>
          </a:p>
          <a:p>
            <a:pPr lvl="0"/>
            <a:r>
              <a:rPr lang="en-IN" b="1" dirty="0"/>
              <a:t>Dialect Preservation Score (DPS) [Custom]:</a:t>
            </a:r>
            <a:r>
              <a:rPr lang="en-IN" dirty="0"/>
              <a:t> A composite evaluation conducted by our native-speaker panel to measure the survival rate of culturally specific idioms and local vocabulary from the source audio to the final transcript.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A6409112-1C1E-3722-0B58-1F0C51EE4BB3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45C73161-6949-56A3-6E91-07837268534E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2750784A-8AD2-E9C7-0858-19B542761C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55" y="1257299"/>
            <a:ext cx="13064490" cy="994727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dirty="0"/>
              <a:t>Approach to Packaging and Uploading on BHASHINI Platform</a:t>
            </a:r>
            <a:br>
              <a:rPr lang="en-US" dirty="0"/>
            </a:br>
            <a:r>
              <a:rPr sz="2200" dirty="0"/>
              <a:t>(if selected)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9852" y="2844981"/>
            <a:ext cx="12795613" cy="481856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Open Source Accessibility:</a:t>
            </a:r>
            <a:r>
              <a:rPr lang="en-IN" dirty="0"/>
              <a:t> All fine-tuned </a:t>
            </a:r>
            <a:r>
              <a:rPr lang="en-IN" dirty="0" err="1"/>
              <a:t>LoRA</a:t>
            </a:r>
            <a:r>
              <a:rPr lang="en-IN" dirty="0"/>
              <a:t> adapter weights will be merged with their base models and published openly on the Hugging Face Model Hub with comprehensive Model Cards.</a:t>
            </a:r>
          </a:p>
          <a:p>
            <a:pPr lvl="0"/>
            <a:r>
              <a:rPr lang="en-IN" b="1" dirty="0"/>
              <a:t>ULCA Compliance:</a:t>
            </a:r>
            <a:r>
              <a:rPr lang="en-IN" dirty="0"/>
              <a:t> We will containerize the backend inference pipelines (</a:t>
            </a:r>
            <a:r>
              <a:rPr lang="en-IN" dirty="0" err="1"/>
              <a:t>FastAPI</a:t>
            </a:r>
            <a:r>
              <a:rPr lang="en-IN" dirty="0"/>
              <a:t>) using Docker. The API endpoints will be mapped strictly to the Universal Language Contribution API (ULCA) schemas (standardized JSON payloads for recognize and translate tasks).</a:t>
            </a:r>
          </a:p>
          <a:p>
            <a:pPr lvl="0"/>
            <a:r>
              <a:rPr lang="en-IN" b="1" dirty="0"/>
              <a:t>Seamless Integration:</a:t>
            </a:r>
            <a:r>
              <a:rPr lang="en-IN" dirty="0"/>
              <a:t> This packaging approach ensures our dialect-specific models can act as plug-and-play microservices, seamlessly onboarding onto Bhashini’s national production servers for government deployment.</a:t>
            </a:r>
          </a:p>
          <a:p>
            <a:pPr lvl="0"/>
            <a:br>
              <a:rPr lang="en-IN" dirty="0"/>
            </a:br>
            <a:endParaRPr dirty="0"/>
          </a:p>
        </p:txBody>
      </p:sp>
      <p:sp>
        <p:nvSpPr>
          <p:cNvPr id="4" name="Diagonal Stripe 3">
            <a:extLst>
              <a:ext uri="{FF2B5EF4-FFF2-40B4-BE49-F238E27FC236}">
                <a16:creationId xmlns:a16="http://schemas.microsoft.com/office/drawing/2014/main" id="{A371664C-07AE-FE30-314E-770E783D6A45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949CB206-215A-E6A0-EEDB-9F1C4BBAD3E0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BE5B3B8C-C8A8-F366-CF5E-B97FCF39F2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onal Stripe 4">
            <a:extLst>
              <a:ext uri="{FF2B5EF4-FFF2-40B4-BE49-F238E27FC236}">
                <a16:creationId xmlns:a16="http://schemas.microsoft.com/office/drawing/2014/main" id="{B96C6089-E164-C906-B411-EB6A77178046}"/>
              </a:ext>
            </a:extLst>
          </p:cNvPr>
          <p:cNvSpPr/>
          <p:nvPr/>
        </p:nvSpPr>
        <p:spPr>
          <a:xfrm rot="8229975">
            <a:off x="-2796609" y="1099676"/>
            <a:ext cx="5600226" cy="6030245"/>
          </a:xfrm>
          <a:prstGeom prst="diagStripe">
            <a:avLst>
              <a:gd name="adj" fmla="val 89585"/>
            </a:avLst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142682"/>
            <a:ext cx="13144500" cy="823595"/>
          </a:xfr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IN" dirty="0"/>
              <a:t>Man-Month Rate </a:t>
            </a:r>
            <a:r>
              <a:rPr dirty="0"/>
              <a:t>Quotation for Any Post-Hackathon Services</a:t>
            </a:r>
            <a:br>
              <a:rPr lang="en-US" dirty="0"/>
            </a:br>
            <a:r>
              <a:rPr lang="en-IN" sz="2200" dirty="0"/>
              <a:t>(if applicable)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50" y="2423160"/>
            <a:ext cx="13144500" cy="4525963"/>
          </a:xfrm>
        </p:spPr>
        <p:txBody>
          <a:bodyPr/>
          <a:lstStyle/>
          <a:p>
            <a:r>
              <a:rPr lang="en-IN" i="1" dirty="0"/>
              <a:t>As a passionate academic student team, our primary motivation is learning, research, and contributing to Digital India's open-source linguistic infrastructure.</a:t>
            </a:r>
            <a:endParaRPr lang="en-IN" dirty="0"/>
          </a:p>
          <a:p>
            <a:pPr lvl="0"/>
            <a:r>
              <a:rPr lang="en-IN" dirty="0"/>
              <a:t>However, if selected for post-hackathon commercial deployment, maintenance, and continuous data ingestion, our quotation is based on standard junior developer/academic stipend rates:</a:t>
            </a:r>
          </a:p>
          <a:p>
            <a:pPr lvl="0"/>
            <a:r>
              <a:rPr lang="en-IN" b="1" dirty="0"/>
              <a:t>Proposed Rate:</a:t>
            </a:r>
            <a:r>
              <a:rPr lang="en-IN" dirty="0"/>
              <a:t> ₹30,000 – ₹45,000 per Man-Month (per developer) for ongoing API maintenance, dataset expansion, and model retraining.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F5EC6BDD-9C2D-CC9D-0D75-14988EDC9744}"/>
              </a:ext>
            </a:extLst>
          </p:cNvPr>
          <p:cNvSpPr/>
          <p:nvPr/>
        </p:nvSpPr>
        <p:spPr>
          <a:xfrm rot="8229975">
            <a:off x="-2796609" y="1111399"/>
            <a:ext cx="5600226" cy="6030245"/>
          </a:xfrm>
          <a:prstGeom prst="diagStripe">
            <a:avLst>
              <a:gd name="adj" fmla="val 89585"/>
            </a:avLst>
          </a:prstGeom>
          <a:solidFill>
            <a:schemeClr val="tx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9CBB4126-305B-24D8-2C2C-0EEA28AE62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33867" y="153047"/>
            <a:ext cx="17293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Team </a:t>
            </a:r>
            <a:r>
              <a:rPr lang="en-IN" dirty="0" err="1"/>
              <a:t>NyaAI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1418</Words>
  <Application>Microsoft Office PowerPoint</Application>
  <PresentationFormat>Custom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Rajasthan Language Model Training Hackathon 2026</vt:lpstr>
      <vt:lpstr> Introduction to the Team Members (Up to 5 members allowed)</vt:lpstr>
      <vt:lpstr>Understanding of the Problem Statement</vt:lpstr>
      <vt:lpstr>Technology Survey on Rajasthan Language Model Training Hackathon 2026 (Automatic Speech Recognition, Machine Translation, Text to speech Translation and OCR Models) </vt:lpstr>
      <vt:lpstr>Results of Initial Benchmarks Carried out (Please note that it should be related to Deployment Benchmarks in real life)</vt:lpstr>
      <vt:lpstr>Approach and Methodology to Improve Model Accuracy</vt:lpstr>
      <vt:lpstr>Data Collection Methodology and Formats</vt:lpstr>
      <vt:lpstr>Model Training Methodology</vt:lpstr>
      <vt:lpstr>Measurement of Accuracy and Evaluation Methods</vt:lpstr>
      <vt:lpstr>Approach to Packaging and Uploading on BHASHINI Platform (if selected)</vt:lpstr>
      <vt:lpstr>Man-Month Rate Quotation for Any Post-Hackathon Services (if applicable)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Jha</cp:lastModifiedBy>
  <cp:revision>38</cp:revision>
  <dcterms:created xsi:type="dcterms:W3CDTF">2013-01-27T09:14:16Z</dcterms:created>
  <dcterms:modified xsi:type="dcterms:W3CDTF">2026-08-19T16:38:43Z</dcterms:modified>
  <cp:category/>
</cp:coreProperties>
</file>